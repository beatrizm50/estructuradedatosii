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0"/>
  </p:handoutMasterIdLst>
  <p:sldIdLst>
    <p:sldId id="256" r:id="rId3"/>
    <p:sldId id="257" r:id="rId4"/>
    <p:sldId id="258" r:id="rId5"/>
    <p:sldId id="260" r:id="rId7"/>
    <p:sldId id="259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0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6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230"/>
        <p:guide pos="3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AB55A-B1F5-4627-ACB9-9CAF6953FE02}" type="datetimeFigureOut">
              <a:rPr lang="es-ES" smtClean="0"/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36336-248E-4E59-AA31-B189D85868DF}" type="slidenum">
              <a:rPr lang="es-ES" smtClean="0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A08A3-3CCC-49E6-964C-E1738A6D992D}" type="datetimeFigureOut">
              <a:rPr lang="es-ES" smtClean="0"/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2CB49-322C-48BB-A333-B208C96D6BAF}" type="slidenum">
              <a:rPr lang="es-ES" smtClean="0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arcador de posición de imagen de diapositiva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Marcador de posición de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s-E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microsoft.com/office/2007/relationships/media" Target="../media/media1.mp3"/><Relationship Id="rId2" Type="http://schemas.openxmlformats.org/officeDocument/2006/relationships/audio" Target="../media/media1.mp3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microsoft.com/office/2007/relationships/media" Target="../media/media3.mp3"/><Relationship Id="rId2" Type="http://schemas.openxmlformats.org/officeDocument/2006/relationships/audio" Target="../media/media3.mp3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media" Target="../media/media4.mp3"/><Relationship Id="rId3" Type="http://schemas.openxmlformats.org/officeDocument/2006/relationships/audio" Target="../media/media4.mp3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media" Target="../media/media5.mp3"/><Relationship Id="rId3" Type="http://schemas.openxmlformats.org/officeDocument/2006/relationships/audio" Target="../media/media5.mp3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media" Target="../media/media6.mp3"/><Relationship Id="rId1" Type="http://schemas.openxmlformats.org/officeDocument/2006/relationships/audio" Target="../media/media6.mp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 de texto 3"/>
          <p:cNvSpPr txBox="1"/>
          <p:nvPr/>
        </p:nvSpPr>
        <p:spPr>
          <a:xfrm>
            <a:off x="-635" y="2671445"/>
            <a:ext cx="12192635" cy="1260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4000">
                <a:latin typeface="Arial Rounded MT Bold" panose="020F0704030504030204" charset="0"/>
                <a:cs typeface="Arial Rounded MT Bold" panose="020F0704030504030204" charset="0"/>
                <a:sym typeface="+mn-ea"/>
              </a:rPr>
              <a:t>T</a:t>
            </a:r>
            <a:r>
              <a:rPr lang="es-ES" altLang="en-US" sz="4000">
                <a:latin typeface="Arial Rounded MT Bold" panose="020F0704030504030204" charset="0"/>
                <a:cs typeface="Arial Rounded MT Bold" panose="020F0704030504030204" charset="0"/>
                <a:sym typeface="+mn-ea"/>
              </a:rPr>
              <a:t>í</a:t>
            </a:r>
            <a:r>
              <a:rPr lang="en-US" sz="4000">
                <a:latin typeface="Arial Rounded MT Bold" panose="020F0704030504030204" charset="0"/>
                <a:cs typeface="Arial Rounded MT Bold" panose="020F0704030504030204" charset="0"/>
                <a:sym typeface="+mn-ea"/>
              </a:rPr>
              <a:t>tulo</a:t>
            </a:r>
            <a:endParaRPr lang="en-US" altLang="es-ES" sz="400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/>
            <a:r>
              <a:rPr lang="en-US" altLang="en-U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¨Desarrollo de una </a:t>
            </a:r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Agenda Telef</a:t>
            </a:r>
            <a:r>
              <a:rPr lang="en-US" altLang="en-U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ó</a:t>
            </a:r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nica</a:t>
            </a:r>
            <a:r>
              <a:rPr lang="en-US" altLang="en-U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¨</a:t>
            </a:r>
            <a:endParaRPr lang="en-US" altLang="en-US"/>
          </a:p>
          <a:p>
            <a:pPr algn="ctr"/>
            <a:endParaRPr lang="en-US" altLang="es-ES"/>
          </a:p>
        </p:txBody>
      </p:sp>
      <p:sp>
        <p:nvSpPr>
          <p:cNvPr id="5" name="Cuadro de texto 4"/>
          <p:cNvSpPr txBox="1"/>
          <p:nvPr/>
        </p:nvSpPr>
        <p:spPr>
          <a:xfrm>
            <a:off x="2844800" y="5053965"/>
            <a:ext cx="65982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s-ES" sz="2400">
                <a:latin typeface="Arial Rounded MT Bold" panose="020F0704030504030204" charset="0"/>
                <a:cs typeface="Arial Rounded MT Bold" panose="020F0704030504030204" charset="0"/>
              </a:rPr>
              <a:t>Autor</a:t>
            </a:r>
            <a:endParaRPr lang="en-US" altLang="es-ES" sz="240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/>
            <a:r>
              <a:rPr lang="en-US" altLang="es-ES" sz="2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Beatriz Machin Ordaz</a:t>
            </a:r>
            <a:endParaRPr lang="en-US" altLang="es-ES" sz="24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/>
            <a:r>
              <a:rPr lang="en-US" altLang="es-ES" sz="2400">
                <a:latin typeface="Arial Rounded MT Bold" panose="020F0704030504030204" charset="0"/>
                <a:cs typeface="Arial Rounded MT Bold" panose="020F0704030504030204" charset="0"/>
              </a:rPr>
              <a:t> </a:t>
            </a:r>
            <a:endParaRPr lang="en-US" altLang="es-ES" sz="240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/>
            <a:r>
              <a:rPr lang="en-US" altLang="es-ES" sz="2400">
                <a:solidFill>
                  <a:schemeClr val="bg2">
                    <a:lumMod val="50000"/>
                  </a:schemeClr>
                </a:solidFill>
                <a:latin typeface="Arial Rounded MT Bold" panose="020F0704030504030204" charset="0"/>
                <a:cs typeface="Arial Rounded MT Bold" panose="020F0704030504030204" charset="0"/>
              </a:rPr>
              <a:t>2026</a:t>
            </a:r>
            <a:endParaRPr lang="en-US" altLang="es-ES" sz="2400">
              <a:solidFill>
                <a:schemeClr val="bg2">
                  <a:lumMod val="50000"/>
                </a:schemeClr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6" name="Presentacion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9720" y="6127750"/>
            <a:ext cx="619125" cy="61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>
        <p15:prstTrans prst="pageCurlSi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75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uadro de texto 3"/>
          <p:cNvSpPr txBox="1"/>
          <p:nvPr/>
        </p:nvSpPr>
        <p:spPr>
          <a:xfrm>
            <a:off x="429260" y="41656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Problem</a:t>
            </a:r>
            <a:r>
              <a:rPr lang="en-US" altLang="en-U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á</a:t>
            </a:r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tica</a:t>
            </a:r>
            <a:endParaRPr lang="en-US" altLang="es-ES" sz="4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5" name="Cuadro de texto 4"/>
          <p:cNvSpPr txBox="1"/>
          <p:nvPr/>
        </p:nvSpPr>
        <p:spPr>
          <a:xfrm>
            <a:off x="1545590" y="2344420"/>
            <a:ext cx="887666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s-ES" sz="4000">
                <a:latin typeface="Arial Rounded MT Bold" panose="020F0704030504030204" charset="0"/>
                <a:cs typeface="Arial Rounded MT Bold" panose="020F0704030504030204" charset="0"/>
              </a:rPr>
              <a:t>Por que el uso de lista simple o arreglos no es eficiente en </a:t>
            </a:r>
            <a:r>
              <a:rPr lang="es-ES" altLang="en-US" sz="4000">
                <a:latin typeface="Arial Rounded MT Bold" panose="020F0704030504030204" charset="0"/>
                <a:cs typeface="Arial Rounded MT Bold" panose="020F0704030504030204" charset="0"/>
              </a:rPr>
              <a:t>el D</a:t>
            </a:r>
            <a:r>
              <a:rPr lang="en-US" altLang="es-ES" sz="4000">
                <a:latin typeface="Arial Rounded MT Bold" panose="020F0704030504030204" charset="0"/>
                <a:cs typeface="Arial Rounded MT Bold" panose="020F0704030504030204" charset="0"/>
              </a:rPr>
              <a:t>esarrollod</a:t>
            </a:r>
            <a:r>
              <a:rPr lang="es-ES" altLang="en-US" sz="4000">
                <a:latin typeface="Arial Rounded MT Bold" panose="020F0704030504030204" charset="0"/>
                <a:cs typeface="Arial Rounded MT Bold" panose="020F0704030504030204" charset="0"/>
              </a:rPr>
              <a:t>o</a:t>
            </a:r>
            <a:r>
              <a:rPr lang="en-US" altLang="es-ES" sz="4000">
                <a:latin typeface="Arial Rounded MT Bold" panose="020F0704030504030204" charset="0"/>
                <a:cs typeface="Arial Rounded MT Bold" panose="020F0704030504030204" charset="0"/>
              </a:rPr>
              <a:t> una Agenda Telef</a:t>
            </a:r>
            <a:r>
              <a:rPr lang="en-US" altLang="en-US" sz="4000">
                <a:latin typeface="Arial Rounded MT Bold" panose="020F0704030504030204" charset="0"/>
                <a:cs typeface="Arial Rounded MT Bold" panose="020F0704030504030204" charset="0"/>
              </a:rPr>
              <a:t>ó</a:t>
            </a:r>
            <a:r>
              <a:rPr lang="en-US" altLang="es-ES" sz="4000">
                <a:latin typeface="Arial Rounded MT Bold" panose="020F0704030504030204" charset="0"/>
                <a:cs typeface="Arial Rounded MT Bold" panose="020F0704030504030204" charset="0"/>
              </a:rPr>
              <a:t>nica?</a:t>
            </a:r>
            <a:endParaRPr lang="en-US" altLang="es-ES" sz="400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847850" y="2137410"/>
            <a:ext cx="8558530" cy="2709545"/>
          </a:xfrm>
          <a:prstGeom prst="roundRect">
            <a:avLst/>
          </a:prstGeom>
          <a:noFill/>
          <a:ln w="76200">
            <a:solidFill>
              <a:srgbClr val="1161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2" name="Problematica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29260" y="6038850"/>
            <a:ext cx="619125" cy="61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>
        <p15:prstTrans prst="pageCurlSi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83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uadro de texto 3"/>
          <p:cNvSpPr txBox="1"/>
          <p:nvPr/>
        </p:nvSpPr>
        <p:spPr>
          <a:xfrm>
            <a:off x="461645" y="459105"/>
            <a:ext cx="56413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Soluci</a:t>
            </a:r>
            <a:r>
              <a:rPr lang="en-US" altLang="en-U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ó</a:t>
            </a:r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 propuesta</a:t>
            </a:r>
            <a:endParaRPr lang="en-US" altLang="es-ES" sz="4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6" name="Imagen 5" descr="Sin título-20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385" y="1438275"/>
            <a:ext cx="4191635" cy="4147185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3784600" y="1326515"/>
            <a:ext cx="4829810" cy="4431030"/>
          </a:xfrm>
          <a:prstGeom prst="roundRect">
            <a:avLst/>
          </a:prstGeom>
          <a:noFill/>
          <a:ln w="76200">
            <a:solidFill>
              <a:srgbClr val="1161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8" name="Cuadro de texto 7"/>
          <p:cNvSpPr txBox="1"/>
          <p:nvPr/>
        </p:nvSpPr>
        <p:spPr>
          <a:xfrm>
            <a:off x="9363710" y="3007995"/>
            <a:ext cx="2136140" cy="1068070"/>
          </a:xfrm>
          <a:prstGeom prst="rect">
            <a:avLst/>
          </a:prstGeom>
          <a:noFill/>
        </p:spPr>
        <p:txBody>
          <a:bodyPr wrap="square" rtlCol="0" anchor="b" anchorCtr="1">
            <a:noAutofit/>
          </a:bodyPr>
          <a:p>
            <a:pPr algn="ctr"/>
            <a:r>
              <a:rPr lang="es-ES" altLang="en-US" sz="2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Diagrama</a:t>
            </a:r>
            <a:endParaRPr lang="es-ES" altLang="en-US" sz="2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/>
            <a:r>
              <a:rPr lang="es-ES" altLang="en-US" sz="2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 del</a:t>
            </a:r>
            <a:endParaRPr lang="es-ES" altLang="en-US" sz="2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/>
            <a:r>
              <a:rPr lang="es-ES" altLang="en-US" sz="2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 arbol binario</a:t>
            </a:r>
            <a:endParaRPr lang="es-ES" altLang="en-US" sz="2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cxnSp>
        <p:nvCxnSpPr>
          <p:cNvPr id="9" name="Conector recto de flecha 8"/>
          <p:cNvCxnSpPr>
            <a:stCxn id="8" idx="1"/>
            <a:endCxn id="7" idx="3"/>
          </p:cNvCxnSpPr>
          <p:nvPr/>
        </p:nvCxnSpPr>
        <p:spPr>
          <a:xfrm flipH="1">
            <a:off x="8614410" y="3542030"/>
            <a:ext cx="749300" cy="0"/>
          </a:xfrm>
          <a:prstGeom prst="straightConnector1">
            <a:avLst/>
          </a:prstGeom>
          <a:ln w="38100">
            <a:solidFill>
              <a:srgbClr val="11612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Rectángulo redondeado 9"/>
          <p:cNvSpPr/>
          <p:nvPr/>
        </p:nvSpPr>
        <p:spPr>
          <a:xfrm>
            <a:off x="9402445" y="2981960"/>
            <a:ext cx="2151380" cy="1275080"/>
          </a:xfrm>
          <a:prstGeom prst="roundRect">
            <a:avLst/>
          </a:prstGeom>
          <a:noFill/>
          <a:ln w="38100">
            <a:solidFill>
              <a:srgbClr val="11612F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2" name="Solucion propuesta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1645" y="5861050"/>
            <a:ext cx="619125" cy="619125"/>
          </a:xfrm>
          <a:prstGeom prst="rect">
            <a:avLst/>
          </a:prstGeom>
        </p:spPr>
      </p:pic>
      <p:sp>
        <p:nvSpPr>
          <p:cNvPr id="3" name="Rectángulo redondeado 2"/>
          <p:cNvSpPr/>
          <p:nvPr/>
        </p:nvSpPr>
        <p:spPr>
          <a:xfrm>
            <a:off x="627380" y="2883535"/>
            <a:ext cx="2131695" cy="1373505"/>
          </a:xfrm>
          <a:prstGeom prst="roundRect">
            <a:avLst/>
          </a:prstGeom>
          <a:noFill/>
          <a:ln w="38100">
            <a:solidFill>
              <a:srgbClr val="11612F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1" name="Cuadro de texto 10"/>
          <p:cNvSpPr txBox="1"/>
          <p:nvPr/>
        </p:nvSpPr>
        <p:spPr>
          <a:xfrm>
            <a:off x="627380" y="2992120"/>
            <a:ext cx="2148840" cy="1264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ES" altLang="en-US" sz="2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L</a:t>
            </a:r>
            <a:r>
              <a:rPr lang="en-US" altLang="en-US" sz="2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ó</a:t>
            </a:r>
            <a:r>
              <a:rPr lang="en-US" altLang="es-ES" sz="2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gica</a:t>
            </a:r>
            <a:endParaRPr lang="en-US" altLang="es-ES" sz="2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/>
            <a:r>
              <a:rPr lang="en-US" altLang="es-ES" sz="2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 de funcionamiento</a:t>
            </a:r>
            <a:endParaRPr lang="en-US" altLang="es-ES" sz="2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cxnSp>
        <p:nvCxnSpPr>
          <p:cNvPr id="12" name="Conector recto de flecha 11"/>
          <p:cNvCxnSpPr>
            <a:stCxn id="11" idx="2"/>
          </p:cNvCxnSpPr>
          <p:nvPr/>
        </p:nvCxnSpPr>
        <p:spPr>
          <a:xfrm flipH="1">
            <a:off x="987425" y="4257040"/>
            <a:ext cx="714375" cy="1450340"/>
          </a:xfrm>
          <a:prstGeom prst="straightConnector1">
            <a:avLst/>
          </a:prstGeom>
          <a:ln w="38100">
            <a:solidFill>
              <a:srgbClr val="11612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>
        <p15:prstTrans prst="pageCurlSi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2727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rcRect r="8770" b="34338"/>
          <a:stretch>
            <a:fillRect/>
          </a:stretch>
        </p:blipFill>
        <p:spPr>
          <a:xfrm>
            <a:off x="756285" y="1416050"/>
            <a:ext cx="5460365" cy="386842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1"/>
          <a:srcRect l="416" t="66350" r="-542" b="-988"/>
          <a:stretch>
            <a:fillRect/>
          </a:stretch>
        </p:blipFill>
        <p:spPr>
          <a:xfrm>
            <a:off x="6489700" y="1909445"/>
            <a:ext cx="5526405" cy="18288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rcRect l="-324" t="-6944" r="324" b="20972"/>
          <a:stretch>
            <a:fillRect/>
          </a:stretch>
        </p:blipFill>
        <p:spPr>
          <a:xfrm>
            <a:off x="6489700" y="3599180"/>
            <a:ext cx="4905375" cy="393065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638810" y="1389380"/>
            <a:ext cx="5577840" cy="4079875"/>
          </a:xfrm>
          <a:prstGeom prst="roundRect">
            <a:avLst/>
          </a:prstGeom>
          <a:noFill/>
          <a:ln w="76200">
            <a:solidFill>
              <a:srgbClr val="1161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8" name="Rectángulo redondeado 7"/>
          <p:cNvSpPr/>
          <p:nvPr/>
        </p:nvSpPr>
        <p:spPr>
          <a:xfrm>
            <a:off x="6489700" y="1909445"/>
            <a:ext cx="5702300" cy="2232025"/>
          </a:xfrm>
          <a:prstGeom prst="roundRect">
            <a:avLst/>
          </a:prstGeom>
          <a:noFill/>
          <a:ln w="76200">
            <a:solidFill>
              <a:srgbClr val="1161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cxnSp>
        <p:nvCxnSpPr>
          <p:cNvPr id="10" name="Conector curvado 9"/>
          <p:cNvCxnSpPr>
            <a:stCxn id="7" idx="2"/>
            <a:endCxn id="8" idx="2"/>
          </p:cNvCxnSpPr>
          <p:nvPr/>
        </p:nvCxnSpPr>
        <p:spPr>
          <a:xfrm rot="5400000" flipH="1" flipV="1">
            <a:off x="5720398" y="1848803"/>
            <a:ext cx="1327785" cy="5913120"/>
          </a:xfrm>
          <a:prstGeom prst="curvedConnector3">
            <a:avLst>
              <a:gd name="adj1" fmla="val -17910"/>
            </a:avLst>
          </a:prstGeom>
          <a:ln w="28575">
            <a:solidFill>
              <a:srgbClr val="11612F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Cuadro de texto 10"/>
          <p:cNvSpPr txBox="1"/>
          <p:nvPr/>
        </p:nvSpPr>
        <p:spPr>
          <a:xfrm>
            <a:off x="1103630" y="92392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2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Método Insertar()</a:t>
            </a:r>
            <a:endParaRPr lang="en-US" altLang="es-ES" sz="2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237490" y="124460"/>
            <a:ext cx="64230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Demostraci</a:t>
            </a:r>
            <a:r>
              <a:rPr lang="en-US" altLang="en-U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ó</a:t>
            </a:r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 del c</a:t>
            </a:r>
            <a:r>
              <a:rPr lang="en-US" altLang="en-U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ó</a:t>
            </a:r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digo</a:t>
            </a:r>
            <a:endParaRPr lang="en-US" altLang="es-ES" sz="4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9" name="4. Metodo insertar">
            <a:hlinkClick r:id="" action="ppaction://media"/>
          </p:cNvPr>
          <p:cNvPicPr/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84505" y="5869305"/>
            <a:ext cx="619125" cy="61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Si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3380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910" y="1139825"/>
            <a:ext cx="7453630" cy="2467610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445135" y="1140460"/>
            <a:ext cx="7707630" cy="2466975"/>
          </a:xfrm>
          <a:prstGeom prst="roundRect">
            <a:avLst/>
          </a:prstGeom>
          <a:noFill/>
          <a:ln w="76200">
            <a:solidFill>
              <a:srgbClr val="1161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395" y="2619375"/>
            <a:ext cx="5191125" cy="3276600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5954395" y="3938905"/>
            <a:ext cx="5190490" cy="1944370"/>
          </a:xfrm>
          <a:prstGeom prst="roundRect">
            <a:avLst/>
          </a:prstGeom>
          <a:noFill/>
          <a:ln w="76200">
            <a:solidFill>
              <a:srgbClr val="1161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9" name="Cuadro de texto 8"/>
          <p:cNvSpPr txBox="1"/>
          <p:nvPr/>
        </p:nvSpPr>
        <p:spPr>
          <a:xfrm>
            <a:off x="719455" y="74104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2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Método Buscar_Nombre()</a:t>
            </a:r>
            <a:endParaRPr lang="en-US" altLang="es-ES" sz="2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8526145" y="3540125"/>
            <a:ext cx="26187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2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Método inOrden()</a:t>
            </a:r>
            <a:endParaRPr lang="en-US" altLang="es-ES" sz="2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2" name="5. Metodo buscar e InOrden">
            <a:hlinkClick r:id="" action="ppaction://media"/>
          </p:cNvPr>
          <p:cNvPicPr/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9910" y="5895975"/>
            <a:ext cx="619125" cy="61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>
        <p15:prstTrans prst="pageCurlSi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3745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uadro de texto 3"/>
          <p:cNvSpPr txBox="1"/>
          <p:nvPr/>
        </p:nvSpPr>
        <p:spPr>
          <a:xfrm>
            <a:off x="433070" y="40068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Conclusiones</a:t>
            </a:r>
            <a:endParaRPr lang="en-US" altLang="es-ES" sz="4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5" name="Cuadro de texto 4"/>
          <p:cNvSpPr txBox="1"/>
          <p:nvPr/>
        </p:nvSpPr>
        <p:spPr>
          <a:xfrm>
            <a:off x="1299845" y="2352040"/>
            <a:ext cx="92697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s-ES" sz="2400">
                <a:latin typeface="Arial Rounded MT Bold" panose="020F0704030504030204" charset="0"/>
                <a:cs typeface="Arial Rounded MT Bold" panose="020F0704030504030204" charset="0"/>
              </a:rPr>
              <a:t>Las ventajas principales de las estructuras de </a:t>
            </a:r>
            <a:r>
              <a:rPr lang="en-US" altLang="en-US" sz="2400">
                <a:latin typeface="Arial Rounded MT Bold" panose="020F0704030504030204" charset="0"/>
                <a:cs typeface="Arial Rounded MT Bold" panose="020F0704030504030204" charset="0"/>
              </a:rPr>
              <a:t>á</a:t>
            </a:r>
            <a:r>
              <a:rPr lang="en-US" altLang="es-ES" sz="2400">
                <a:latin typeface="Arial Rounded MT Bold" panose="020F0704030504030204" charset="0"/>
                <a:cs typeface="Arial Rounded MT Bold" panose="020F0704030504030204" charset="0"/>
              </a:rPr>
              <a:t>rboles binarios son que permiten insertar, buscar y eliminar de forma r</a:t>
            </a:r>
            <a:r>
              <a:rPr lang="en-US" altLang="en-US" sz="2400">
                <a:latin typeface="Arial Rounded MT Bold" panose="020F0704030504030204" charset="0"/>
                <a:cs typeface="Arial Rounded MT Bold" panose="020F0704030504030204" charset="0"/>
              </a:rPr>
              <a:t>á</a:t>
            </a:r>
            <a:r>
              <a:rPr lang="en-US" altLang="es-ES" sz="2400">
                <a:latin typeface="Arial Rounded MT Bold" panose="020F0704030504030204" charset="0"/>
                <a:cs typeface="Arial Rounded MT Bold" panose="020F0704030504030204" charset="0"/>
              </a:rPr>
              <a:t>pida, mantienen los datos ordenados autom</a:t>
            </a:r>
            <a:r>
              <a:rPr lang="en-US" altLang="en-US" sz="2400">
                <a:latin typeface="Arial Rounded MT Bold" panose="020F0704030504030204" charset="0"/>
                <a:cs typeface="Arial Rounded MT Bold" panose="020F0704030504030204" charset="0"/>
              </a:rPr>
              <a:t>á</a:t>
            </a:r>
            <a:r>
              <a:rPr lang="en-US" altLang="es-ES" sz="2400">
                <a:latin typeface="Arial Rounded MT Bold" panose="020F0704030504030204" charset="0"/>
                <a:cs typeface="Arial Rounded MT Bold" panose="020F0704030504030204" charset="0"/>
              </a:rPr>
              <a:t>ticamente y son escalables, funcionando bien incluso con colecciones grandes.</a:t>
            </a:r>
            <a:endParaRPr lang="en-US" altLang="es-ES" sz="240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190625" y="2071370"/>
            <a:ext cx="9496425" cy="2499360"/>
          </a:xfrm>
          <a:prstGeom prst="roundRect">
            <a:avLst/>
          </a:prstGeom>
          <a:noFill/>
          <a:ln w="76200">
            <a:solidFill>
              <a:srgbClr val="1161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2" name="Concluciones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33070" y="5655310"/>
            <a:ext cx="619125" cy="61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>
        <p15:prstTrans prst="pageCurlSi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787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</Words>
  <Application>WPS Presentation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Arial Rounded MT Bold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Beatriz Machin Ordaz</dc:creator>
  <cp:lastModifiedBy>Beatriz Machín Ordaz</cp:lastModifiedBy>
  <cp:revision>9</cp:revision>
  <dcterms:created xsi:type="dcterms:W3CDTF">2025-07-23T00:59:00Z</dcterms:created>
  <dcterms:modified xsi:type="dcterms:W3CDTF">2026-03-24T22:06:18Z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3082-12.2.0.23196</vt:lpwstr>
  </property>
</Properties>
</file>